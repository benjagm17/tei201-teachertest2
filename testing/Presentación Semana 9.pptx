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52" r:id="rId4"/>
    <p:sldId id="360" r:id="rId5"/>
    <p:sldId id="338" r:id="rId6"/>
    <p:sldId id="361" r:id="rId7"/>
    <p:sldId id="362" r:id="rId8"/>
    <p:sldId id="363" r:id="rId9"/>
    <p:sldId id="351" r:id="rId10"/>
    <p:sldId id="332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BE2E3-437A-417C-92A8-DFCC45A723E5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6509-D9B6-4646-B11C-4C3661A8D61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7334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88F92-92DE-F836-FB89-BC8C09ABD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5E293C-2AA3-D3E5-0115-FA42E7C2C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0632F5-9104-CAAC-9BCD-2B113137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83834-A1E2-4B93-B0F7-9007120061BD}" type="datetime1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84AD57-6EEC-93C7-1960-B10A2709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40707A-B944-54CD-6E46-04104BE2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986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C88C2-FD8D-E194-485F-99A2077F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2B56A-5293-D6BD-B412-FCB14D19C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847627-37B3-D6D0-3E24-DEC078BA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81004-E525-42DD-98B0-D08A62DBF697}" type="datetime1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73267D-FED0-18F5-7BA7-64F5FA4D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9CB51F-7B8C-09A3-2AAB-FF5753AC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912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FC680-09BF-279A-F808-F9FAF9A6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749A0E-F998-6B4F-0A0F-D818FA0C1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07A3EF-D7C8-2DEB-CF81-2C19CB7C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180D5-AD80-4FC4-BFB7-EB792FF6BA1B}" type="datetime1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0C7158-7A54-A11F-900E-CCEA3B4D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ACB451-2ACB-6C78-36D5-BCC0EF9F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230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CFD12-C646-F942-B0F1-1565309A3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7812E8-FCED-D548-1A9E-F4DB9726E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53091C-9365-1473-C686-092F81E89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0B7E80-D454-5A55-8504-F0D24292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91975-D3DF-46D5-82C2-EC3765AE2882}" type="datetime1">
              <a:rPr lang="es-CL" smtClean="0"/>
              <a:t>05-10-2026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0B353E-F77A-8A85-06AE-3C756E9F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9E8E2-3A2D-A789-A7E9-969F04BC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205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F3EE3-6229-5745-61BF-4D38E17E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8C6BBF-7AFA-4A10-882C-C91E8B6BC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C61EAA-A8B3-7C19-AA9B-63B68143F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2F7926-8245-13FF-6AF6-A4904565F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3D4F3C-4569-0C8C-67D7-1F36AC572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E2BC4B-683C-458E-D942-5C40DBC7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79D9-8CC7-4121-91C9-B0407C81F7EA}" type="datetime1">
              <a:rPr lang="es-CL" smtClean="0"/>
              <a:t>05-10-2026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AA17E8-6FE1-A791-9A89-3BF6FB27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46231D-E969-21B1-8AE6-C006E9BF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045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1C86E-E0F8-CD51-F92D-3646CE4A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512BC2-8B23-5A97-82A6-44F91A63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16685-9FEC-4AD6-B8A1-2F1233AEDAEA}" type="datetime1">
              <a:rPr lang="es-CL" smtClean="0"/>
              <a:t>05-10-2026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6A7403-7AD3-EEE1-A5B4-A2EEDA32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2E590E-4B89-4BED-E2BB-3F87D54F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59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CC380C-6612-9C5B-1331-857446EA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6B74-C763-44EE-B493-1BBB21B28E36}" type="datetime1">
              <a:rPr lang="es-CL" smtClean="0"/>
              <a:t>05-10-2026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15EEA7-4A03-0EB8-C413-F47ACC62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CF3BC5-39EB-E7E8-B402-D65396EA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477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88185-0E10-1E40-AE3B-3E3644547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AF7C8C-538E-2578-B3ED-66EDF339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750EA9-FEE1-9EC5-2265-BA2CB4379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478124-338A-230D-04D4-9A4310A9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F30D-E3D0-49CD-BB3D-B112253683F2}" type="datetime1">
              <a:rPr lang="es-CL" smtClean="0"/>
              <a:t>05-10-2026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81A394-F17A-CB98-F03F-6D0D15F5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E8DB5C-02B5-F125-7242-4716E94A1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911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05479-AD23-CF0E-73F5-805DCEF7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3F1AA1-6EA3-A7B1-6D94-56EA9203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7E9D07-F5D4-C346-2A0E-79CEEA3A8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4A3C9-7620-D917-25C4-F52D8F75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66FD-881A-426D-91CF-7411C55634CF}" type="datetime1">
              <a:rPr lang="es-CL" smtClean="0"/>
              <a:t>05-10-2026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97B67-5758-3A25-1CD4-74913498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668B7A-B311-6EEE-7804-51D51D1C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93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4B33C-ACCF-BEA3-2F52-5A825A69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8CB418-B911-9437-336C-71CC11A66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A148CF-9FB5-0BFD-9A84-2908C36F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FB0E1-7961-4B79-8825-7B64ABE9635A}" type="datetime1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73913E-5DEF-4250-BF63-5924B85D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B2495-BC26-31FB-C5CA-D7D0591D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3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AB7DE6-F690-758A-CD44-54E89ED4A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761520-2489-BA24-4543-7F9B72BCE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3AC477-A28A-2D85-5B28-7CFE1525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7FE7-BAC3-4364-B18D-022256141CAB}" type="datetime1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3CCF5-8D1E-F1CB-522B-0FEC9477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08BD3E-E72B-9D3A-E08E-2C365788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898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047A9D-B76A-DE8A-159D-05F76A81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D0FF32-2220-31F3-05ED-5EF2D99D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7628F-C5DC-6A06-62D7-07DA78A63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9FA56-C101-4708-8533-06DD886AD06F}" type="datetime1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ECCCCF-0403-C899-9E10-2FB6B83A3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860B10-49FA-1FFA-F235-173BB1744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0C874-B7F5-450B-9716-D40C370021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782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2218F0-D20C-F68B-D1FE-73D125875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s-MX" sz="5400" dirty="0">
                <a:solidFill>
                  <a:schemeClr val="bg1"/>
                </a:solidFill>
              </a:rPr>
              <a:t>TEI201 2026-2 S9</a:t>
            </a:r>
            <a:endParaRPr lang="es-CL" sz="54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8B00D2-A625-9AD3-37F8-04099599F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s-MX" sz="1700" dirty="0">
                <a:solidFill>
                  <a:schemeClr val="bg1"/>
                </a:solidFill>
              </a:rPr>
              <a:t>Taller de Diseño en Ingeniería</a:t>
            </a:r>
          </a:p>
          <a:p>
            <a:r>
              <a:rPr lang="es-MX" sz="1700" dirty="0">
                <a:solidFill>
                  <a:schemeClr val="bg1"/>
                </a:solidFill>
              </a:rPr>
              <a:t>Prof. Benjamín Gutiérrez</a:t>
            </a:r>
          </a:p>
          <a:p>
            <a:r>
              <a:rPr lang="es-MX" sz="1700" dirty="0">
                <a:solidFill>
                  <a:schemeClr val="bg1"/>
                </a:solidFill>
              </a:rPr>
              <a:t>AY. Rocío Gómez y </a:t>
            </a:r>
            <a:r>
              <a:rPr lang="es-MX" sz="1700" dirty="0" err="1">
                <a:solidFill>
                  <a:schemeClr val="bg1"/>
                </a:solidFill>
              </a:rPr>
              <a:t>Cristobal</a:t>
            </a:r>
            <a:r>
              <a:rPr lang="es-MX" sz="1700" dirty="0">
                <a:solidFill>
                  <a:schemeClr val="bg1"/>
                </a:solidFill>
              </a:rPr>
              <a:t> Allendes</a:t>
            </a:r>
            <a:endParaRPr lang="es-CL" sz="17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5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F215FC-59D2-4C03-7EB1-23F3C4904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s-MX">
                <a:solidFill>
                  <a:schemeClr val="bg1"/>
                </a:solidFill>
              </a:rPr>
              <a:t>Contenidos</a:t>
            </a:r>
            <a:endParaRPr lang="es-C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accent2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D87F23-3B22-1F62-7A9F-A3098B837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77492"/>
            <a:ext cx="5356041" cy="4149650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¿Qué es GitHub?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¿Por qué usamos GitHub?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Estructura y </a:t>
            </a:r>
            <a:r>
              <a:rPr lang="es-MX" dirty="0" err="1">
                <a:solidFill>
                  <a:schemeClr val="bg2">
                    <a:lumMod val="10000"/>
                  </a:schemeClr>
                </a:solidFill>
              </a:rPr>
              <a:t>Template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Protocolo Anti-Desastres.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Qué archivos subir a GitHub.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Demostración.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accent2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0656AF-9DE2-3A13-54F6-6CC7B753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114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EB708185-20C0-40F2-8F2D-8EB9E34B3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3957BF-03F5-A4E0-68B8-B4566919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MX" sz="4000" dirty="0"/>
              <a:t>¿Qué es GitHub?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2056D4-C844-353F-3135-B515DD484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314940" cy="3632493"/>
          </a:xfrm>
        </p:spPr>
        <p:txBody>
          <a:bodyPr anchor="ctr">
            <a:normAutofit/>
          </a:bodyPr>
          <a:lstStyle/>
          <a:p>
            <a:endParaRPr lang="es-MX" sz="1400" dirty="0"/>
          </a:p>
          <a:p>
            <a:endParaRPr lang="es-CL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FD99C4-24E3-8E0C-F59F-5BA367A1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EF0C874-B7F5-450B-9716-D40C37002177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srgbClr val="1B1D36">
                    <a:tint val="82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srgbClr val="1B1D36">
                  <a:tint val="82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GitHub - Wikipedia, la enciclopedia libre">
            <a:extLst>
              <a:ext uri="{FF2B5EF4-FFF2-40B4-BE49-F238E27FC236}">
                <a16:creationId xmlns:a16="http://schemas.microsoft.com/office/drawing/2014/main" id="{B37AF77F-E4A2-F41D-6416-F6DB1533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470" y="609599"/>
            <a:ext cx="2059505" cy="2059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E4832-65F7-A7CB-4683-AF8EE339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719" y="3300013"/>
            <a:ext cx="4859753" cy="2840585"/>
          </a:xfrm>
          <a:prstGeom prst="rect">
            <a:avLst/>
          </a:prstGeom>
        </p:spPr>
      </p:pic>
      <p:sp>
        <p:nvSpPr>
          <p:cNvPr id="11" name="CuadroTexto 5">
            <a:extLst>
              <a:ext uri="{FF2B5EF4-FFF2-40B4-BE49-F238E27FC236}">
                <a16:creationId xmlns:a16="http://schemas.microsoft.com/office/drawing/2014/main" id="{94E503C0-5442-A740-FBB5-C77FF4C5CE93}"/>
              </a:ext>
            </a:extLst>
          </p:cNvPr>
          <p:cNvSpPr txBox="1"/>
          <p:nvPr/>
        </p:nvSpPr>
        <p:spPr>
          <a:xfrm>
            <a:off x="853120" y="2343537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CL" sz="2000" dirty="0"/>
              <a:t>Plataforma de desarrollo colaborativo y alojamiento de código fuente mas grande del mundo.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CL" sz="2000" dirty="0">
                <a:solidFill>
                  <a:srgbClr val="1B1D36"/>
                </a:solidFill>
                <a:latin typeface="Aptos" panose="02110004020202020204"/>
              </a:rPr>
              <a:t>Funciona como una nube basada en el sistema de control de versiones Git.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CL" sz="2000" dirty="0">
                <a:solidFill>
                  <a:srgbClr val="1B1D36"/>
                </a:solidFill>
                <a:latin typeface="Aptos" panose="02110004020202020204"/>
              </a:rPr>
              <a:t>Permite almacenar, gestionar, rastrear y compartir proyectos de software de manera segura.</a:t>
            </a:r>
            <a:endParaRPr lang="en-US" sz="2000" dirty="0">
              <a:solidFill>
                <a:srgbClr val="1B1D36"/>
              </a:solidFill>
              <a:latin typeface="Aptos" panose="02110004020202020204"/>
            </a:endParaRP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20522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B3AA4-B666-7228-0B88-8C892ADC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C289E45-BE6F-725A-DF55-D55C730C1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647A8B5-4410-35FC-B81F-A6D74568C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68CC59A-D485-B464-EFBA-E6A490D19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511BE0A-7F85-1465-0E56-337F535EF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FDA4E3E7-07BF-76B8-0DEB-DECC53807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7B6C31-2088-D2E4-C218-69851EA5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r>
              <a:rPr lang="es-MX" sz="4000" dirty="0">
                <a:solidFill>
                  <a:schemeClr val="bg2">
                    <a:lumMod val="10000"/>
                  </a:schemeClr>
                </a:solidFill>
              </a:rPr>
              <a:t>¿Por qué usamos GitHub?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05A4EC5-1834-FFF7-9AC3-B5278027A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934E8A-5540-4C41-0BAA-F97F8652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314940" cy="3632493"/>
          </a:xfrm>
        </p:spPr>
        <p:txBody>
          <a:bodyPr anchor="ctr">
            <a:normAutofit/>
          </a:bodyPr>
          <a:lstStyle/>
          <a:p>
            <a:endParaRPr lang="es-MX" sz="1400" dirty="0"/>
          </a:p>
          <a:p>
            <a:endParaRPr lang="es-CL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8C68FA-CC2E-9CBD-5055-B9265DC4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EF0C874-B7F5-450B-9716-D40C37002177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srgbClr val="1B1D36">
                    <a:tint val="82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srgbClr val="1B1D36">
                  <a:tint val="82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GitHub - Wikipedia, la enciclopedia libre">
            <a:extLst>
              <a:ext uri="{FF2B5EF4-FFF2-40B4-BE49-F238E27FC236}">
                <a16:creationId xmlns:a16="http://schemas.microsoft.com/office/drawing/2014/main" id="{E4198959-DD82-813E-081A-0A62AD8BA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470" y="609599"/>
            <a:ext cx="2059505" cy="2059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B670EB-74A4-3682-75E6-B255BEE9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719" y="3300013"/>
            <a:ext cx="4859753" cy="2840585"/>
          </a:xfrm>
          <a:prstGeom prst="rect">
            <a:avLst/>
          </a:prstGeom>
        </p:spPr>
      </p:pic>
      <p:sp>
        <p:nvSpPr>
          <p:cNvPr id="11" name="CuadroTexto 5">
            <a:extLst>
              <a:ext uri="{FF2B5EF4-FFF2-40B4-BE49-F238E27FC236}">
                <a16:creationId xmlns:a16="http://schemas.microsoft.com/office/drawing/2014/main" id="{9F26FDA4-BAB8-5F1E-6DEF-94A592BE65CE}"/>
              </a:ext>
            </a:extLst>
          </p:cNvPr>
          <p:cNvSpPr txBox="1"/>
          <p:nvPr/>
        </p:nvSpPr>
        <p:spPr>
          <a:xfrm>
            <a:off x="853120" y="2343537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CL" sz="2000" dirty="0"/>
              <a:t>Un proyecto </a:t>
            </a:r>
            <a:r>
              <a:rPr lang="es-CL" sz="2000" dirty="0" err="1"/>
              <a:t>IoT</a:t>
            </a:r>
            <a:r>
              <a:rPr lang="es-CL" sz="2000" dirty="0"/>
              <a:t> real tiene código, modelos 3D y circuitos. Un PDF no permite clonar ni verificar código. GitHub es su portafolio profesional.</a:t>
            </a:r>
            <a:endParaRPr lang="en-US" sz="2000" dirty="0">
              <a:solidFill>
                <a:srgbClr val="1B1D36"/>
              </a:solidFill>
              <a:latin typeface="Aptos" panose="02110004020202020204"/>
            </a:endParaRP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Tiene Sistema de control de </a:t>
            </a:r>
            <a:r>
              <a:rPr lang="en-US" sz="2000" dirty="0" err="1">
                <a:solidFill>
                  <a:srgbClr val="1B1D36"/>
                </a:solidFill>
                <a:latin typeface="Aptos" panose="02110004020202020204"/>
              </a:rPr>
              <a:t>versiones</a:t>
            </a: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 </a:t>
            </a:r>
            <a:r>
              <a:rPr lang="en-US" sz="2000" dirty="0" err="1">
                <a:solidFill>
                  <a:srgbClr val="1B1D36"/>
                </a:solidFill>
                <a:latin typeface="Aptos" panose="02110004020202020204"/>
              </a:rPr>
              <a:t>nativo</a:t>
            </a: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 y </a:t>
            </a:r>
            <a:r>
              <a:rPr lang="en-US" sz="2000" dirty="0" err="1">
                <a:solidFill>
                  <a:srgbClr val="1B1D36"/>
                </a:solidFill>
                <a:latin typeface="Aptos" panose="02110004020202020204"/>
              </a:rPr>
              <a:t>fácil</a:t>
            </a: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 de usar.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rgbClr val="1B1D36"/>
                </a:solidFill>
                <a:latin typeface="Aptos" panose="02110004020202020204"/>
              </a:rPr>
              <a:t>Estandar</a:t>
            </a: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 </a:t>
            </a:r>
            <a:r>
              <a:rPr lang="en-US" sz="2000" dirty="0" err="1">
                <a:solidFill>
                  <a:srgbClr val="1B1D36"/>
                </a:solidFill>
                <a:latin typeface="Aptos" panose="02110004020202020204"/>
              </a:rPr>
              <a:t>globar</a:t>
            </a: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 para </a:t>
            </a:r>
            <a:r>
              <a:rPr lang="en-US" sz="2000" dirty="0" err="1">
                <a:solidFill>
                  <a:srgbClr val="1B1D36"/>
                </a:solidFill>
                <a:latin typeface="Aptos" panose="02110004020202020204"/>
              </a:rPr>
              <a:t>proyectos</a:t>
            </a:r>
            <a:r>
              <a:rPr lang="en-US" sz="2000" dirty="0">
                <a:solidFill>
                  <a:srgbClr val="1B1D36"/>
                </a:solidFill>
                <a:latin typeface="Aptos" panose="02110004020202020204"/>
              </a:rPr>
              <a:t> tech.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715699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DE95A-773D-F3E9-2357-5F798EA5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E83411-2B49-935E-B7DD-97D09C53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Estructura</a:t>
            </a:r>
            <a:r>
              <a:rPr lang="en-US" sz="5400" dirty="0"/>
              <a:t> y Template</a:t>
            </a:r>
          </a:p>
        </p:txBody>
      </p:sp>
      <p:sp>
        <p:nvSpPr>
          <p:cNvPr id="1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858636-B2AB-93A5-B445-9E0B10004CA1}"/>
              </a:ext>
            </a:extLst>
          </p:cNvPr>
          <p:cNvSpPr txBox="1"/>
          <p:nvPr/>
        </p:nvSpPr>
        <p:spPr>
          <a:xfrm>
            <a:off x="350763" y="2743200"/>
            <a:ext cx="7202424" cy="3483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/>
              <a:t>El </a:t>
            </a:r>
            <a:r>
              <a:rPr lang="en-US" sz="2000" b="1" dirty="0" err="1"/>
              <a:t>Repositorio</a:t>
            </a:r>
            <a:r>
              <a:rPr lang="en-US" sz="2000" b="1" dirty="0"/>
              <a:t> (Repo):</a:t>
            </a:r>
            <a:r>
              <a:rPr lang="en-US" sz="2000" dirty="0"/>
              <a:t> Es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carpeta</a:t>
            </a:r>
            <a:r>
              <a:rPr lang="en-US" sz="2000" dirty="0"/>
              <a:t> </a:t>
            </a:r>
            <a:r>
              <a:rPr lang="en-US" sz="2000" dirty="0" err="1"/>
              <a:t>compartida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nube</a:t>
            </a:r>
            <a:r>
              <a:rPr lang="en-US" sz="2000" dirty="0"/>
              <a:t> (</a:t>
            </a:r>
            <a:r>
              <a:rPr lang="en-US" sz="2000" dirty="0" err="1"/>
              <a:t>estilo</a:t>
            </a:r>
            <a:r>
              <a:rPr lang="en-US" sz="2000" dirty="0"/>
              <a:t> Google Drive o Dropbox), </a:t>
            </a:r>
            <a:r>
              <a:rPr lang="en-US" sz="2000" dirty="0" err="1"/>
              <a:t>pero</a:t>
            </a:r>
            <a:r>
              <a:rPr lang="en-US" sz="2000" dirty="0"/>
              <a:t> </a:t>
            </a:r>
            <a:r>
              <a:rPr lang="en-US" sz="2000" dirty="0" err="1"/>
              <a:t>diseñada</a:t>
            </a:r>
            <a:r>
              <a:rPr lang="en-US" sz="2000" dirty="0"/>
              <a:t> para </a:t>
            </a:r>
            <a:r>
              <a:rPr lang="en-US" sz="2000" dirty="0" err="1"/>
              <a:t>proyectos</a:t>
            </a:r>
            <a:r>
              <a:rPr lang="en-US" sz="2000" dirty="0"/>
              <a:t> </a:t>
            </a:r>
            <a:r>
              <a:rPr lang="en-US" sz="2000" dirty="0" err="1"/>
              <a:t>técnicos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/>
              <a:t>El "Commit" (La </a:t>
            </a:r>
            <a:r>
              <a:rPr lang="en-US" sz="2000" b="1" dirty="0" err="1"/>
              <a:t>foto</a:t>
            </a:r>
            <a:r>
              <a:rPr lang="en-US" sz="2000" b="1" dirty="0"/>
              <a:t> con nota </a:t>
            </a:r>
            <a:r>
              <a:rPr lang="en-US" sz="2000" b="1" dirty="0" err="1"/>
              <a:t>adhesiva</a:t>
            </a:r>
            <a:r>
              <a:rPr lang="en-US" sz="2000" b="1" dirty="0"/>
              <a:t>):</a:t>
            </a:r>
            <a:r>
              <a:rPr lang="en-US" sz="2000" dirty="0"/>
              <a:t> En Google Drive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cambios</a:t>
            </a:r>
            <a:r>
              <a:rPr lang="en-US" sz="2000" dirty="0"/>
              <a:t> se </a:t>
            </a:r>
            <a:r>
              <a:rPr lang="en-US" sz="2000" dirty="0" err="1"/>
              <a:t>guardan</a:t>
            </a:r>
            <a:r>
              <a:rPr lang="en-US" sz="2000" dirty="0"/>
              <a:t> </a:t>
            </a:r>
            <a:r>
              <a:rPr lang="en-US" sz="2000" dirty="0" err="1"/>
              <a:t>automáticamente</a:t>
            </a:r>
            <a:r>
              <a:rPr lang="en-US" sz="2000" dirty="0"/>
              <a:t>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segundo</a:t>
            </a:r>
            <a:r>
              <a:rPr lang="en-US" sz="2000" dirty="0"/>
              <a:t>. En GitHub </a:t>
            </a:r>
            <a:r>
              <a:rPr lang="en-US" sz="2000" b="1" dirty="0"/>
              <a:t>no</a:t>
            </a:r>
            <a:r>
              <a:rPr lang="en-US" sz="2000" dirty="0"/>
              <a:t>. </a:t>
            </a:r>
            <a:r>
              <a:rPr lang="en-US" sz="2000" dirty="0" err="1"/>
              <a:t>Aquí</a:t>
            </a:r>
            <a:r>
              <a:rPr lang="en-US" sz="2000" dirty="0"/>
              <a:t> </a:t>
            </a:r>
            <a:r>
              <a:rPr lang="en-US" sz="2000" dirty="0" err="1"/>
              <a:t>tú</a:t>
            </a:r>
            <a:r>
              <a:rPr lang="en-US" sz="2000" dirty="0"/>
              <a:t> decides </a:t>
            </a:r>
            <a:r>
              <a:rPr lang="en-US" sz="2000" dirty="0" err="1"/>
              <a:t>cuándo</a:t>
            </a:r>
            <a:r>
              <a:rPr lang="en-US" sz="2000" dirty="0"/>
              <a:t> "</a:t>
            </a:r>
            <a:r>
              <a:rPr lang="en-US" sz="2000" dirty="0" err="1"/>
              <a:t>sacarle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foto</a:t>
            </a:r>
            <a:r>
              <a:rPr lang="en-US" sz="2000" dirty="0"/>
              <a:t>" a </a:t>
            </a:r>
            <a:r>
              <a:rPr lang="en-US" sz="2000" dirty="0" err="1"/>
              <a:t>tu</a:t>
            </a:r>
            <a:r>
              <a:rPr lang="en-US" sz="2000" dirty="0"/>
              <a:t> </a:t>
            </a:r>
            <a:r>
              <a:rPr lang="en-US" sz="2000" dirty="0" err="1"/>
              <a:t>proyecto</a:t>
            </a:r>
            <a:r>
              <a:rPr lang="en-US" sz="2000" dirty="0"/>
              <a:t>. Cuando </a:t>
            </a:r>
            <a:r>
              <a:rPr lang="en-US" sz="2000" dirty="0" err="1"/>
              <a:t>terminas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, </a:t>
            </a:r>
            <a:r>
              <a:rPr lang="en-US" sz="2000" dirty="0" err="1"/>
              <a:t>guardas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foto</a:t>
            </a:r>
            <a:r>
              <a:rPr lang="en-US" sz="2000" dirty="0"/>
              <a:t> del </a:t>
            </a:r>
            <a:r>
              <a:rPr lang="en-US" sz="2000" dirty="0" err="1"/>
              <a:t>estado</a:t>
            </a:r>
            <a:r>
              <a:rPr lang="en-US" sz="2000" dirty="0"/>
              <a:t> actual y le pones un </a:t>
            </a:r>
            <a:r>
              <a:rPr lang="en-US" sz="2000" dirty="0" err="1"/>
              <a:t>título</a:t>
            </a:r>
            <a:r>
              <a:rPr lang="en-US" sz="2000" dirty="0"/>
              <a:t> </a:t>
            </a:r>
            <a:r>
              <a:rPr lang="en-US" sz="2000" dirty="0" err="1"/>
              <a:t>explicativo</a:t>
            </a:r>
            <a:r>
              <a:rPr lang="en-US" sz="2000" dirty="0"/>
              <a:t>. Esa </a:t>
            </a:r>
            <a:r>
              <a:rPr lang="en-US" sz="2000" dirty="0" err="1"/>
              <a:t>foto</a:t>
            </a:r>
            <a:r>
              <a:rPr lang="en-US" sz="2000" dirty="0"/>
              <a:t> se llama </a:t>
            </a:r>
            <a:r>
              <a:rPr lang="en-US" sz="2000" b="1" dirty="0"/>
              <a:t>Commit</a:t>
            </a:r>
            <a:r>
              <a:rPr lang="en-US" sz="2000" dirty="0"/>
              <a:t>.</a:t>
            </a:r>
          </a:p>
          <a:p>
            <a:pPr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CL" sz="2000" b="1" dirty="0"/>
              <a:t>El Historial:</a:t>
            </a:r>
            <a:r>
              <a:rPr lang="es-CL" sz="2000" dirty="0"/>
              <a:t> Es la tira de fotos en orden cronológico. Si un estudiante borra algo por error la noche anterior a la presentación, pueden volver a la foto anterior sin perder nada.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Picture 3" descr="Imágenes de Postit: descarga gratuita en Magnific (anteriormente Freepik)">
            <a:extLst>
              <a:ext uri="{FF2B5EF4-FFF2-40B4-BE49-F238E27FC236}">
                <a16:creationId xmlns:a16="http://schemas.microsoft.com/office/drawing/2014/main" id="{1BE0F3C4-45FD-4025-B2F9-1892E4FE3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963" y="329183"/>
            <a:ext cx="3429969" cy="3429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C0241-0070-933B-72C4-A10ACA0B2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68347"/>
            <a:ext cx="3995928" cy="1997964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E580E9-9DD9-CC7E-30DA-D1024095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EF0C874-B7F5-450B-9716-D40C37002177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071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C3DB4-31B2-13EA-5ED3-129C9EA2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935859-378F-CA29-914D-C856EF21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Estructura</a:t>
            </a: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Template</a:t>
            </a:r>
          </a:p>
        </p:txBody>
      </p:sp>
      <p:sp>
        <p:nvSpPr>
          <p:cNvPr id="1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19B18B-18F5-7011-626D-6C4754B3F347}"/>
              </a:ext>
            </a:extLst>
          </p:cNvPr>
          <p:cNvSpPr txBox="1"/>
          <p:nvPr/>
        </p:nvSpPr>
        <p:spPr>
          <a:xfrm>
            <a:off x="630935" y="2660904"/>
            <a:ext cx="5006189" cy="35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Local vs. Nube (Origin):</a:t>
            </a: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Local:</a:t>
            </a:r>
            <a:r>
              <a:rPr lang="en-US" sz="2000" dirty="0"/>
              <a:t> La </a:t>
            </a:r>
            <a:r>
              <a:rPr lang="en-US" sz="2000" dirty="0" err="1"/>
              <a:t>carpeta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el </a:t>
            </a:r>
            <a:r>
              <a:rPr lang="en-US" sz="2000" dirty="0" err="1"/>
              <a:t>computador</a:t>
            </a:r>
            <a:r>
              <a:rPr lang="en-US" sz="2000" dirty="0"/>
              <a:t> del </a:t>
            </a:r>
            <a:r>
              <a:rPr lang="en-US" sz="2000" dirty="0" err="1"/>
              <a:t>integrante</a:t>
            </a:r>
            <a:r>
              <a:rPr lang="en-US" sz="2000" dirty="0"/>
              <a:t>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Remote / GitHub (Nube):</a:t>
            </a:r>
            <a:r>
              <a:rPr lang="en-US" sz="2000" dirty="0"/>
              <a:t> La </a:t>
            </a:r>
            <a:r>
              <a:rPr lang="en-US" sz="2000" dirty="0" err="1"/>
              <a:t>copia</a:t>
            </a:r>
            <a:r>
              <a:rPr lang="en-US" sz="2000" dirty="0"/>
              <a:t> central </a:t>
            </a:r>
            <a:r>
              <a:rPr lang="en-US" sz="2000" dirty="0" err="1"/>
              <a:t>en</a:t>
            </a:r>
            <a:r>
              <a:rPr lang="en-US" sz="2000" dirty="0"/>
              <a:t> internet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revisar</a:t>
            </a:r>
            <a:r>
              <a:rPr lang="en-US" sz="2000" dirty="0"/>
              <a:t>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Pull (Bajar):</a:t>
            </a:r>
            <a:r>
              <a:rPr lang="en-US" sz="2000" dirty="0"/>
              <a:t> Traer al </a:t>
            </a:r>
            <a:r>
              <a:rPr lang="en-US" sz="2000" dirty="0" err="1"/>
              <a:t>computador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cambios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subió</a:t>
            </a:r>
            <a:r>
              <a:rPr lang="en-US" sz="2000" dirty="0"/>
              <a:t> un </a:t>
            </a:r>
            <a:r>
              <a:rPr lang="en-US" sz="2000" dirty="0" err="1"/>
              <a:t>compañero</a:t>
            </a:r>
            <a:r>
              <a:rPr lang="en-US" sz="2000" dirty="0"/>
              <a:t>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Push (Subir):</a:t>
            </a:r>
            <a:r>
              <a:rPr lang="en-US" sz="2000" dirty="0"/>
              <a:t> Mandar a la </a:t>
            </a:r>
            <a:r>
              <a:rPr lang="en-US" sz="2000" dirty="0" err="1"/>
              <a:t>nube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cambios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hiciste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tu</a:t>
            </a:r>
            <a:r>
              <a:rPr lang="en-US" sz="2000" dirty="0"/>
              <a:t> </a:t>
            </a:r>
            <a:r>
              <a:rPr lang="en-US" sz="2000" dirty="0" err="1"/>
              <a:t>computador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Tutorial 101: Git Push and Pull - Analytics Vidhya">
            <a:extLst>
              <a:ext uri="{FF2B5EF4-FFF2-40B4-BE49-F238E27FC236}">
                <a16:creationId xmlns:a16="http://schemas.microsoft.com/office/drawing/2014/main" id="{2710DE84-B269-4170-428A-B519EC137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096" y="1964003"/>
            <a:ext cx="5458968" cy="3070669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169788A-C1F3-0D7B-2260-8F9DA174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EF0C874-B7F5-450B-9716-D40C37002177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50328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7D5B-587A-36BA-0794-7351E54B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AD83DE-5575-F9F3-3AF0-28E6FCDF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6920239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Protocolo</a:t>
            </a: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Anti-</a:t>
            </a:r>
            <a:r>
              <a:rPr lang="en-US" sz="5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Desastres</a:t>
            </a: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DAE876-B34D-15B9-01A1-9D097B935AC9}"/>
              </a:ext>
            </a:extLst>
          </p:cNvPr>
          <p:cNvSpPr txBox="1"/>
          <p:nvPr/>
        </p:nvSpPr>
        <p:spPr>
          <a:xfrm>
            <a:off x="630936" y="2660904"/>
            <a:ext cx="5026286" cy="35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Regla de Oro para </a:t>
            </a:r>
            <a:r>
              <a:rPr lang="en-US" sz="2000" b="1" dirty="0" err="1"/>
              <a:t>evitarse</a:t>
            </a:r>
            <a:r>
              <a:rPr lang="en-US" sz="2000" b="1" dirty="0"/>
              <a:t> el 90% de </a:t>
            </a:r>
            <a:r>
              <a:rPr lang="en-US" sz="2000" b="1" dirty="0" err="1"/>
              <a:t>los</a:t>
            </a:r>
            <a:r>
              <a:rPr lang="en-US" sz="2000" b="1" dirty="0"/>
              <a:t> </a:t>
            </a:r>
            <a:r>
              <a:rPr lang="en-US" sz="2000" b="1" dirty="0" err="1"/>
              <a:t>problemas</a:t>
            </a:r>
            <a:r>
              <a:rPr lang="en-US" sz="2000" b="1" dirty="0"/>
              <a:t>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>
              <a:lnSpc>
                <a:spcPct val="90000"/>
              </a:lnSpc>
            </a:pPr>
            <a:r>
              <a:rPr lang="en-US" sz="2800" b="1" dirty="0">
                <a:highlight>
                  <a:srgbClr val="FFFF00"/>
                </a:highlight>
              </a:rPr>
              <a:t>“</a:t>
            </a:r>
            <a:r>
              <a:rPr lang="en-US" sz="2800" b="1" dirty="0" err="1">
                <a:highlight>
                  <a:srgbClr val="FFFF00"/>
                </a:highlight>
              </a:rPr>
              <a:t>Siempre</a:t>
            </a:r>
            <a:r>
              <a:rPr lang="en-US" sz="2800" b="1" dirty="0">
                <a:highlight>
                  <a:srgbClr val="FFFF00"/>
                </a:highlight>
              </a:rPr>
              <a:t> </a:t>
            </a:r>
            <a:r>
              <a:rPr lang="en-US" sz="2800" b="1" dirty="0" err="1">
                <a:highlight>
                  <a:srgbClr val="FFFF00"/>
                </a:highlight>
              </a:rPr>
              <a:t>hacer</a:t>
            </a:r>
            <a:r>
              <a:rPr lang="en-US" sz="2800" b="1" dirty="0">
                <a:highlight>
                  <a:srgbClr val="FFFF00"/>
                </a:highlight>
              </a:rPr>
              <a:t> PULL antes de </a:t>
            </a:r>
            <a:r>
              <a:rPr lang="en-US" sz="2800" b="1" dirty="0" err="1">
                <a:highlight>
                  <a:srgbClr val="FFFF00"/>
                </a:highlight>
              </a:rPr>
              <a:t>empezar</a:t>
            </a:r>
            <a:r>
              <a:rPr lang="en-US" sz="2800" b="1" dirty="0">
                <a:highlight>
                  <a:srgbClr val="FFFF00"/>
                </a:highlight>
              </a:rPr>
              <a:t> a </a:t>
            </a:r>
            <a:r>
              <a:rPr lang="en-US" sz="2800" b="1" dirty="0" err="1">
                <a:highlight>
                  <a:srgbClr val="FFFF00"/>
                </a:highlight>
              </a:rPr>
              <a:t>trabajar</a:t>
            </a:r>
            <a:r>
              <a:rPr lang="en-US" sz="2800" b="1" dirty="0">
                <a:highlight>
                  <a:srgbClr val="FFFF00"/>
                </a:highlight>
              </a:rPr>
              <a:t>, y PUSH al </a:t>
            </a:r>
            <a:r>
              <a:rPr lang="en-US" sz="2800" b="1" dirty="0" err="1">
                <a:highlight>
                  <a:srgbClr val="FFFF00"/>
                </a:highlight>
              </a:rPr>
              <a:t>terminar</a:t>
            </a:r>
            <a:r>
              <a:rPr lang="en-US" sz="2800" b="1" dirty="0">
                <a:highlight>
                  <a:srgbClr val="FFFF00"/>
                </a:highlight>
              </a:rPr>
              <a:t>.”</a:t>
            </a:r>
            <a:endParaRPr lang="en-US" sz="2800" dirty="0">
              <a:highlight>
                <a:srgbClr val="FFFF00"/>
              </a:highlight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7" name="Picture 6" descr="Archivo:Warning.svg - Wikipedia, la enciclopedia libre">
            <a:extLst>
              <a:ext uri="{FF2B5EF4-FFF2-40B4-BE49-F238E27FC236}">
                <a16:creationId xmlns:a16="http://schemas.microsoft.com/office/drawing/2014/main" id="{AEA98E30-ABA9-4CE7-3CD9-1B4EBD49F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904227"/>
            <a:ext cx="5458968" cy="5049545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B033F05-9579-DAEC-5D76-BC53188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EF0C874-B7F5-450B-9716-D40C37002177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95284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A1F93-87AC-14F9-D0F1-0949D031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9D5CC5-5B86-D0AE-1ED5-6FD913A8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Protocolo</a:t>
            </a: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Anti-</a:t>
            </a: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Desastres</a:t>
            </a: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Bob esponja lo predijo hace años. No nos hagamos pendejos">
            <a:extLst>
              <a:ext uri="{FF2B5EF4-FFF2-40B4-BE49-F238E27FC236}">
                <a16:creationId xmlns:a16="http://schemas.microsoft.com/office/drawing/2014/main" id="{158CE8CB-2DD5-7AB6-869F-8F8363E9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096" y="1907625"/>
            <a:ext cx="5458968" cy="4107873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524B2C4-78B7-A6C9-7A46-100C98F3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EF0C874-B7F5-450B-9716-D40C37002177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CuadroTexto 5">
            <a:extLst>
              <a:ext uri="{FF2B5EF4-FFF2-40B4-BE49-F238E27FC236}">
                <a16:creationId xmlns:a16="http://schemas.microsoft.com/office/drawing/2014/main" id="{260A6E92-214C-C56F-DF45-1981C16D872E}"/>
              </a:ext>
            </a:extLst>
          </p:cNvPr>
          <p:cNvSpPr txBox="1"/>
          <p:nvPr/>
        </p:nvSpPr>
        <p:spPr>
          <a:xfrm>
            <a:off x="630935" y="2660904"/>
            <a:ext cx="4996141" cy="35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El error </a:t>
            </a:r>
            <a:r>
              <a:rPr lang="en-US" sz="1700" dirty="0" err="1"/>
              <a:t>clásico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grupos</a:t>
            </a:r>
            <a:r>
              <a:rPr lang="en-US" sz="1700" dirty="0"/>
              <a:t> </a:t>
            </a:r>
            <a:r>
              <a:rPr lang="en-US" sz="1700" dirty="0" err="1"/>
              <a:t>novatos</a:t>
            </a:r>
            <a:r>
              <a:rPr lang="en-US" sz="1700" dirty="0"/>
              <a:t> </a:t>
            </a:r>
            <a:r>
              <a:rPr lang="en-US" sz="1700" dirty="0" err="1"/>
              <a:t>ocurre</a:t>
            </a:r>
            <a:r>
              <a:rPr lang="en-US" sz="1700" dirty="0"/>
              <a:t> </a:t>
            </a:r>
            <a:r>
              <a:rPr lang="en-US" sz="1700" dirty="0" err="1"/>
              <a:t>cuando</a:t>
            </a:r>
            <a:r>
              <a:rPr lang="en-US" sz="1700" dirty="0"/>
              <a:t> dos personas </a:t>
            </a:r>
            <a:r>
              <a:rPr lang="en-US" sz="1700" dirty="0" err="1"/>
              <a:t>modifican</a:t>
            </a:r>
            <a:r>
              <a:rPr lang="en-US" sz="1700" dirty="0"/>
              <a:t> el </a:t>
            </a:r>
            <a:r>
              <a:rPr lang="en-US" sz="1700" dirty="0" err="1"/>
              <a:t>mismo</a:t>
            </a:r>
            <a:r>
              <a:rPr lang="en-US" sz="1700" dirty="0"/>
              <a:t> </a:t>
            </a:r>
            <a:r>
              <a:rPr lang="en-US" sz="1700" dirty="0" err="1"/>
              <a:t>archivo</a:t>
            </a:r>
            <a:r>
              <a:rPr lang="en-US" sz="1700" dirty="0"/>
              <a:t> al </a:t>
            </a:r>
            <a:r>
              <a:rPr lang="en-US" sz="1700" dirty="0" err="1"/>
              <a:t>mismo</a:t>
            </a:r>
            <a:r>
              <a:rPr lang="en-US" sz="1700" dirty="0"/>
              <a:t> </a:t>
            </a:r>
            <a:r>
              <a:rPr lang="en-US" sz="1700" dirty="0" err="1"/>
              <a:t>tiempo</a:t>
            </a:r>
            <a:r>
              <a:rPr lang="en-US" sz="1700" dirty="0"/>
              <a:t> sin </a:t>
            </a:r>
            <a:r>
              <a:rPr lang="en-US" sz="1700" dirty="0" err="1"/>
              <a:t>actualizarse</a:t>
            </a:r>
            <a:r>
              <a:rPr lang="en-US" sz="1700" dirty="0"/>
              <a:t>. Para </a:t>
            </a:r>
            <a:r>
              <a:rPr lang="en-US" sz="1700" dirty="0" err="1"/>
              <a:t>evitar</a:t>
            </a:r>
            <a:r>
              <a:rPr lang="en-US" sz="1700" dirty="0"/>
              <a:t> </a:t>
            </a:r>
            <a:r>
              <a:rPr lang="en-US" sz="1700" dirty="0" err="1"/>
              <a:t>esto</a:t>
            </a:r>
            <a:r>
              <a:rPr lang="en-US" sz="1700" dirty="0"/>
              <a:t>: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Un solo </a:t>
            </a:r>
            <a:r>
              <a:rPr lang="en-US" sz="1700" b="1" dirty="0" err="1"/>
              <a:t>responsable</a:t>
            </a:r>
            <a:r>
              <a:rPr lang="en-US" sz="1700" b="1" dirty="0"/>
              <a:t> del </a:t>
            </a:r>
            <a:r>
              <a:rPr lang="en-US" sz="1700" b="1" dirty="0" err="1"/>
              <a:t>repositorio</a:t>
            </a:r>
            <a:r>
              <a:rPr lang="en-US" sz="1700" b="1" dirty="0"/>
              <a:t>:</a:t>
            </a:r>
            <a:r>
              <a:rPr lang="en-US" sz="1700" dirty="0"/>
              <a:t> Solo un </a:t>
            </a:r>
            <a:r>
              <a:rPr lang="en-US" sz="1700" dirty="0" err="1"/>
              <a:t>integrante</a:t>
            </a:r>
            <a:r>
              <a:rPr lang="en-US" sz="1700" dirty="0"/>
              <a:t> </a:t>
            </a:r>
            <a:r>
              <a:rPr lang="en-US" sz="1700" dirty="0" err="1"/>
              <a:t>crea</a:t>
            </a:r>
            <a:r>
              <a:rPr lang="en-US" sz="1700" dirty="0"/>
              <a:t> el repo a </a:t>
            </a:r>
            <a:r>
              <a:rPr lang="en-US" sz="1700" dirty="0" err="1"/>
              <a:t>partir</a:t>
            </a:r>
            <a:r>
              <a:rPr lang="en-US" sz="1700" dirty="0"/>
              <a:t> de la </a:t>
            </a:r>
            <a:r>
              <a:rPr lang="en-US" sz="1700" dirty="0" err="1"/>
              <a:t>plantilla</a:t>
            </a:r>
            <a:r>
              <a:rPr lang="en-US" sz="1700" dirty="0"/>
              <a:t> y da </a:t>
            </a:r>
            <a:r>
              <a:rPr lang="en-US" sz="1700" dirty="0" err="1"/>
              <a:t>permisos</a:t>
            </a:r>
            <a:r>
              <a:rPr lang="en-US" sz="1700" dirty="0"/>
              <a:t> a sus </a:t>
            </a:r>
            <a:r>
              <a:rPr lang="en-US" sz="1700" dirty="0" err="1"/>
              <a:t>compañeros</a:t>
            </a:r>
            <a:r>
              <a:rPr lang="en-US" sz="1700" dirty="0"/>
              <a:t>.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División </a:t>
            </a:r>
            <a:r>
              <a:rPr lang="en-US" sz="1700" b="1" dirty="0" err="1"/>
              <a:t>por</a:t>
            </a:r>
            <a:r>
              <a:rPr lang="en-US" sz="1700" b="1" dirty="0"/>
              <a:t> </a:t>
            </a:r>
            <a:r>
              <a:rPr lang="en-US" sz="1700" b="1" dirty="0" err="1"/>
              <a:t>carpetas</a:t>
            </a:r>
            <a:r>
              <a:rPr lang="en-US" sz="1700" b="1" dirty="0"/>
              <a:t>:</a:t>
            </a:r>
            <a:r>
              <a:rPr lang="en-US" sz="1700" dirty="0"/>
              <a:t> En la </a:t>
            </a:r>
            <a:r>
              <a:rPr lang="en-US" sz="1700" dirty="0" err="1"/>
              <a:t>plantilla</a:t>
            </a:r>
            <a:r>
              <a:rPr lang="en-US" sz="1700" dirty="0"/>
              <a:t> las </a:t>
            </a:r>
            <a:r>
              <a:rPr lang="en-US" sz="1700" dirty="0" err="1"/>
              <a:t>carpetas</a:t>
            </a:r>
            <a:r>
              <a:rPr lang="en-US" sz="1700" dirty="0"/>
              <a:t> </a:t>
            </a:r>
            <a:r>
              <a:rPr lang="en-US" sz="1700" dirty="0" err="1"/>
              <a:t>ya</a:t>
            </a:r>
            <a:r>
              <a:rPr lang="en-US" sz="1700" dirty="0"/>
              <a:t> </a:t>
            </a:r>
            <a:r>
              <a:rPr lang="en-US" sz="1700" dirty="0" err="1"/>
              <a:t>están</a:t>
            </a:r>
            <a:r>
              <a:rPr lang="en-US" sz="1700" dirty="0"/>
              <a:t> </a:t>
            </a:r>
            <a:r>
              <a:rPr lang="en-US" sz="1700" dirty="0" err="1"/>
              <a:t>separadas</a:t>
            </a:r>
            <a:r>
              <a:rPr lang="en-US" sz="1700" dirty="0"/>
              <a:t> (software/, hardware/, diseno_3d/, docs/). Si el </a:t>
            </a:r>
            <a:r>
              <a:rPr lang="en-US" sz="1700" dirty="0" err="1"/>
              <a:t>que</a:t>
            </a:r>
            <a:r>
              <a:rPr lang="en-US" sz="1700" dirty="0"/>
              <a:t> </a:t>
            </a:r>
            <a:r>
              <a:rPr lang="en-US" sz="1700" dirty="0" err="1"/>
              <a:t>hace</a:t>
            </a:r>
            <a:r>
              <a:rPr lang="en-US" sz="1700" dirty="0"/>
              <a:t> el 3D solo </a:t>
            </a:r>
            <a:r>
              <a:rPr lang="en-US" sz="1700" dirty="0" err="1"/>
              <a:t>toca</a:t>
            </a:r>
            <a:r>
              <a:rPr lang="en-US" sz="1700" dirty="0"/>
              <a:t> diseno_3d/ y el del </a:t>
            </a:r>
            <a:r>
              <a:rPr lang="en-US" sz="1700" dirty="0" err="1"/>
              <a:t>circuito</a:t>
            </a:r>
            <a:r>
              <a:rPr lang="en-US" sz="1700" dirty="0"/>
              <a:t> solo </a:t>
            </a:r>
            <a:r>
              <a:rPr lang="en-US" sz="1700" dirty="0" err="1"/>
              <a:t>toca</a:t>
            </a:r>
            <a:r>
              <a:rPr lang="en-US" sz="1700" dirty="0"/>
              <a:t> hardware/, </a:t>
            </a:r>
            <a:r>
              <a:rPr lang="en-US" sz="1700" b="1" dirty="0" err="1"/>
              <a:t>nunca</a:t>
            </a:r>
            <a:r>
              <a:rPr lang="en-US" sz="1700" b="1" dirty="0"/>
              <a:t> </a:t>
            </a:r>
            <a:r>
              <a:rPr lang="en-US" sz="1700" b="1" dirty="0" err="1"/>
              <a:t>habrá</a:t>
            </a:r>
            <a:r>
              <a:rPr lang="en-US" sz="1700" b="1" dirty="0"/>
              <a:t> </a:t>
            </a:r>
            <a:r>
              <a:rPr lang="en-US" sz="1700" b="1" dirty="0" err="1"/>
              <a:t>conflictos</a:t>
            </a:r>
            <a:r>
              <a:rPr lang="en-US" sz="1700" b="1" dirty="0"/>
              <a:t> de </a:t>
            </a:r>
            <a:r>
              <a:rPr lang="en-US" sz="1700" b="1" dirty="0" err="1"/>
              <a:t>versiones</a:t>
            </a:r>
            <a:r>
              <a:rPr lang="en-US" sz="1700" dirty="0"/>
              <a:t>.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70883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5080B-81A3-C7CE-AF09-7A052CD6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0EB210-5330-18FA-FFA7-0214A408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sz="3200" dirty="0">
                <a:solidFill>
                  <a:schemeClr val="bg2">
                    <a:lumMod val="10000"/>
                  </a:schemeClr>
                </a:solidFill>
              </a:rPr>
              <a:t>Qué archivos subir a GitHub.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3C005F-7640-2E0E-88E8-3693D62E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7EF0C874-B7F5-450B-9716-D40C37002177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uadroTexto 5">
            <a:extLst>
              <a:ext uri="{FF2B5EF4-FFF2-40B4-BE49-F238E27FC236}">
                <a16:creationId xmlns:a16="http://schemas.microsoft.com/office/drawing/2014/main" id="{A642BB90-7219-1920-217B-E3854B578276}"/>
              </a:ext>
            </a:extLst>
          </p:cNvPr>
          <p:cNvSpPr txBox="1"/>
          <p:nvPr/>
        </p:nvSpPr>
        <p:spPr>
          <a:xfrm>
            <a:off x="630935" y="2660904"/>
            <a:ext cx="9712600" cy="354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GitHub es </a:t>
            </a:r>
            <a:r>
              <a:rPr lang="en-US" sz="1700" dirty="0" err="1"/>
              <a:t>una</a:t>
            </a:r>
            <a:r>
              <a:rPr lang="en-US" sz="1700" dirty="0"/>
              <a:t> Plataforma </a:t>
            </a:r>
            <a:r>
              <a:rPr lang="en-US" sz="1700" dirty="0" err="1"/>
              <a:t>principalmente</a:t>
            </a:r>
            <a:r>
              <a:rPr lang="en-US" sz="1700" dirty="0"/>
              <a:t> </a:t>
            </a:r>
            <a:r>
              <a:rPr lang="en-US" sz="1700" b="1" dirty="0"/>
              <a:t>GRATUITA</a:t>
            </a:r>
            <a:r>
              <a:rPr lang="en-US" sz="1700" dirty="0"/>
              <a:t>, </a:t>
            </a:r>
            <a:r>
              <a:rPr lang="en-US" sz="1700" dirty="0" err="1"/>
              <a:t>por</a:t>
            </a:r>
            <a:r>
              <a:rPr lang="en-US" sz="1700" dirty="0"/>
              <a:t> </a:t>
            </a:r>
            <a:r>
              <a:rPr lang="en-US" sz="1700" dirty="0" err="1"/>
              <a:t>ende</a:t>
            </a:r>
            <a:r>
              <a:rPr lang="en-US" sz="1700" dirty="0"/>
              <a:t>, también </a:t>
            </a:r>
            <a:r>
              <a:rPr lang="en-US" sz="1700" dirty="0" err="1"/>
              <a:t>tiene</a:t>
            </a:r>
            <a:r>
              <a:rPr lang="en-US" sz="1700" dirty="0"/>
              <a:t> sus </a:t>
            </a:r>
            <a:r>
              <a:rPr lang="en-US" sz="1700" dirty="0" err="1"/>
              <a:t>límites</a:t>
            </a:r>
            <a:r>
              <a:rPr lang="en-US" sz="1700" dirty="0"/>
              <a:t>: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100 MB por archivo (Límite estricto):</a:t>
            </a:r>
            <a:r>
              <a:rPr lang="es-CL" sz="1600" dirty="0"/>
              <a:t> Si un solo archivo supera los 100 MB, GitHub </a:t>
            </a:r>
            <a:r>
              <a:rPr lang="es-CL" sz="1600" b="1" dirty="0"/>
              <a:t>bloquea completamente la subida</a:t>
            </a:r>
            <a:r>
              <a:rPr lang="es-CL" sz="1600" dirty="0"/>
              <a:t> (</a:t>
            </a:r>
            <a:r>
              <a:rPr lang="es-CL" sz="1600" i="1" dirty="0" err="1"/>
              <a:t>push</a:t>
            </a:r>
            <a:r>
              <a:rPr lang="es-CL" sz="1600" dirty="0"/>
              <a:t>) y arroja un error técnico. Si hacen un </a:t>
            </a:r>
            <a:r>
              <a:rPr lang="es-CL" sz="1600" dirty="0" err="1"/>
              <a:t>commit</a:t>
            </a:r>
            <a:r>
              <a:rPr lang="es-CL" sz="1600" dirty="0"/>
              <a:t> con un archivo de más de 100 MB, GitHub Desktop no los dejará subir nada hasta que remuevan ese </a:t>
            </a:r>
            <a:r>
              <a:rPr lang="es-CL" sz="1600" dirty="0" err="1"/>
              <a:t>commit</a:t>
            </a:r>
            <a:r>
              <a:rPr lang="es-CL" sz="1600" dirty="0"/>
              <a:t> del historial.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50 MB por archivo (Advertencia):</a:t>
            </a:r>
            <a:r>
              <a:rPr lang="es-CL" sz="1600" dirty="0"/>
              <a:t> Entre 50 MB y 100 MB, GitHub lo sube pero lanza alertas pidiendo usar Git LFS (</a:t>
            </a:r>
            <a:r>
              <a:rPr lang="es-CL" sz="1600" i="1" dirty="0"/>
              <a:t>Large File Storag</a:t>
            </a:r>
            <a:r>
              <a:rPr lang="es-CL" sz="1600" dirty="0"/>
              <a:t>e) lo que es un poco mas técnico.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b="1" dirty="0"/>
              <a:t>1 GB a 2 GB para todo el repositorio:</a:t>
            </a:r>
            <a:r>
              <a:rPr lang="es-CL" sz="1600" dirty="0"/>
              <a:t> El tamaño acumulado del repositorio debe mantenerse idealmente por debajo de 1 GB para que clone y sincronice rápido.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Para </a:t>
            </a:r>
            <a:r>
              <a:rPr lang="en-US" sz="1700" dirty="0" err="1"/>
              <a:t>todo</a:t>
            </a:r>
            <a:r>
              <a:rPr lang="en-US" sz="1700" dirty="0"/>
              <a:t> lo </a:t>
            </a:r>
            <a:r>
              <a:rPr lang="en-US" sz="1700" dirty="0" err="1"/>
              <a:t>que</a:t>
            </a:r>
            <a:r>
              <a:rPr lang="en-US" sz="1700" dirty="0"/>
              <a:t> sea CAD, o </a:t>
            </a:r>
            <a:r>
              <a:rPr lang="en-US" sz="1700" dirty="0" err="1"/>
              <a:t>archivos</a:t>
            </a:r>
            <a:r>
              <a:rPr lang="en-US" sz="1700" dirty="0"/>
              <a:t> multimedia </a:t>
            </a:r>
            <a:r>
              <a:rPr lang="en-US" sz="1700" dirty="0" err="1"/>
              <a:t>pesados</a:t>
            </a:r>
            <a:r>
              <a:rPr lang="en-US" sz="1700" dirty="0"/>
              <a:t>, es </a:t>
            </a:r>
            <a:r>
              <a:rPr lang="en-US" sz="1700" dirty="0" err="1"/>
              <a:t>recomendado</a:t>
            </a:r>
            <a:r>
              <a:rPr lang="en-US" sz="1700" dirty="0"/>
              <a:t> </a:t>
            </a:r>
            <a:r>
              <a:rPr lang="en-US" sz="1700" dirty="0" err="1"/>
              <a:t>mantenerlos</a:t>
            </a:r>
            <a:r>
              <a:rPr lang="en-US" sz="1700" dirty="0"/>
              <a:t> </a:t>
            </a:r>
            <a:r>
              <a:rPr lang="en-US" sz="1700" dirty="0" err="1"/>
              <a:t>aparte</a:t>
            </a:r>
            <a:r>
              <a:rPr lang="en-US" sz="1700" dirty="0"/>
              <a:t> (</a:t>
            </a:r>
            <a:r>
              <a:rPr lang="en-US" sz="1700" dirty="0" err="1"/>
              <a:t>recordar</a:t>
            </a:r>
            <a:r>
              <a:rPr lang="en-US" sz="1700" dirty="0"/>
              <a:t> </a:t>
            </a:r>
            <a:r>
              <a:rPr lang="en-US" sz="1700" dirty="0" err="1"/>
              <a:t>que</a:t>
            </a:r>
            <a:r>
              <a:rPr lang="en-US" sz="1700" dirty="0"/>
              <a:t> para </a:t>
            </a:r>
            <a:r>
              <a:rPr lang="en-US" sz="1700" dirty="0" err="1"/>
              <a:t>eso</a:t>
            </a:r>
            <a:r>
              <a:rPr lang="en-US" sz="1700" dirty="0"/>
              <a:t> se </a:t>
            </a:r>
            <a:r>
              <a:rPr lang="en-US" sz="1700" dirty="0" err="1"/>
              <a:t>configuró</a:t>
            </a:r>
            <a:r>
              <a:rPr lang="en-US" sz="1700" dirty="0"/>
              <a:t> la </a:t>
            </a:r>
            <a:r>
              <a:rPr lang="en-US" sz="1700" dirty="0" err="1"/>
              <a:t>nube</a:t>
            </a:r>
            <a:r>
              <a:rPr lang="en-US" sz="1700" dirty="0"/>
              <a:t> de Fusion360).</a:t>
            </a:r>
          </a:p>
        </p:txBody>
      </p:sp>
    </p:spTree>
    <p:extLst>
      <p:ext uri="{BB962C8B-B14F-4D97-AF65-F5344CB8AC3E}">
        <p14:creationId xmlns:p14="http://schemas.microsoft.com/office/powerpoint/2010/main" val="427572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87FF8F-E45E-1132-8428-E69EDBCC3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MX" sz="5400" dirty="0"/>
              <a:t>Demostración</a:t>
            </a:r>
            <a:endParaRPr lang="es-CL" sz="54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3160B851-DF22-26D4-ADAF-EC0CB3811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9055" y="2024319"/>
            <a:ext cx="3587750" cy="358775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21FCE4-451C-30CA-8830-49192885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0C874-B7F5-450B-9716-D40C37002177}" type="slidenum">
              <a:rPr lang="es-CL" smtClean="0"/>
              <a:t>10</a:t>
            </a:fld>
            <a:endParaRPr lang="es-C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B3899D-C952-B4D8-02C7-E3539826C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00206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1B1D36"/>
      </a:dk1>
      <a:lt1>
        <a:sysClr val="window" lastClr="FFFFFF"/>
      </a:lt1>
      <a:dk2>
        <a:srgbClr val="232645"/>
      </a:dk2>
      <a:lt2>
        <a:srgbClr val="E8E8E8"/>
      </a:lt2>
      <a:accent1>
        <a:srgbClr val="3A86FF"/>
      </a:accent1>
      <a:accent2>
        <a:srgbClr val="FF6B57"/>
      </a:accent2>
      <a:accent3>
        <a:srgbClr val="06D6A0"/>
      </a:accent3>
      <a:accent4>
        <a:srgbClr val="FFB703"/>
      </a:accent4>
      <a:accent5>
        <a:srgbClr val="8338EC"/>
      </a:accent5>
      <a:accent6>
        <a:srgbClr val="2EC4B6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652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Tema de Office</vt:lpstr>
      <vt:lpstr>TEI201 2026-2 S9</vt:lpstr>
      <vt:lpstr>Contenidos</vt:lpstr>
      <vt:lpstr>¿Qué es GitHub?</vt:lpstr>
      <vt:lpstr>¿Por qué usamos GitHub?</vt:lpstr>
      <vt:lpstr>Estructura y Template</vt:lpstr>
      <vt:lpstr>Estructura y Template</vt:lpstr>
      <vt:lpstr>Protocolo Anti-Desastres</vt:lpstr>
      <vt:lpstr>Protocolo Anti-Desastres</vt:lpstr>
      <vt:lpstr>Qué archivos subir a GitHub.</vt:lpstr>
      <vt:lpstr>Demostración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Benjamín Gutierrez</dc:creator>
  <cp:lastModifiedBy>Benjamín Gutierrez</cp:lastModifiedBy>
  <cp:revision>24</cp:revision>
  <dcterms:created xsi:type="dcterms:W3CDTF">2026-08-03T02:45:50Z</dcterms:created>
  <dcterms:modified xsi:type="dcterms:W3CDTF">2026-10-05T04:23:53Z</dcterms:modified>
</cp:coreProperties>
</file>